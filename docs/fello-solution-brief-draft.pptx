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 AUC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t1</c:v>
                </c:pt>
                <c:pt idx="1">
                  <c:v>t2</c:v>
                </c:pt>
                <c:pt idx="2">
                  <c:v>t3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0.5518620056003523</c:v>
                </c:pt>
                <c:pt idx="1">
                  <c:v>0.5877179949275559</c:v>
                </c:pt>
                <c:pt idx="2">
                  <c:v>0.5744914749460205</c:v>
                </c:pt>
              </c:numCache>
            </c:numRef>
          </c:val>
        </c:ser>
        <c:dLbls>
          <c:numFmt formatCode="0.0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the requested automatic red-score email. Explain why a capacity-limited worklist addresses the actual business decision. This is synthetic, not proof of retention uplift.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late-arriving event through atomic ingestion/enqueue, claim, immutable snapshot and UI. At-least-once execution with idempotent output, not exactly-once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LLM output is untrusted. No arbitrary SQL, source prose, customer emails or cross-tenant data enter the request. Contributions are associations, not causal explanations. Unknown never means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the model improves retention. Show false positives and touch precision in the JSON report. Repeated weekly flags consume capacity. The tiny tenant has no positive held-out outcomes, so recall/AUC are undefined. There is no statistically established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what fails first at 10x: in-memory bootstrap, connection churn/reconciliation, unbounded ledgers, current-state reads, enterprise identity and provider concurrency. Do not represent remote deployment, GitHub push or a live API call as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109728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Evidence before outreach.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109728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CD6CB"/>
                </a:solidFill>
                <a:latin typeface="Arial"/>
              </a:defRPr>
            </a:pPr>
            <a:r>
              <a:t>A renewal-risk worklist, not another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CD6CB"/>
                </a:solidFill>
                <a:latin typeface="Arial"/>
              </a:defRPr>
            </a:pPr>
            <a:r>
              <a:t>FELLO TAKE-HOME  /  Siddhant Sharma  /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43200"/>
            <a:ext cx="502920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  <a:p>
            <a:pPr>
              <a:spcAft>
                <a:spcPts val="14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A CSM owns about 120 accounts. Signals exist, but attention and lead time are limited.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502920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The decision</a:t>
            </a:r>
          </a:p>
          <a:p>
            <a:pPr>
              <a:spcAft>
                <a:spcPts val="14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Rank the next conversations, show the evidence, and keep customer outreach under human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109728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172C31"/>
                </a:solidFill>
                <a:latin typeface="Arial"/>
              </a:defRPr>
            </a:pPr>
            <a:r>
              <a:t>One codebase. Three services.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109728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53666A"/>
                </a:solidFill>
                <a:latin typeface="Arial"/>
              </a:defRPr>
            </a:pPr>
            <a:r>
              <a:t>Python / FastAPI + Postgres + one worker. No agent framework or message broker.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66A"/>
                </a:solidFill>
                <a:latin typeface="Arial"/>
              </a:defRPr>
            </a:pPr>
            <a:r>
              <a:t>FELLO TAKE-HOME  /  Siddhant Sharma  /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2514600" cy="1965960"/>
          </a:xfrm>
          <a:prstGeom prst="round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214884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95B4D"/>
                </a:solidFill>
                <a:latin typeface="Arial"/>
              </a:defRPr>
            </a:pPr>
            <a:r>
              <a:t>Source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21488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172C31"/>
                </a:solidFill>
                <a:latin typeface="Arial"/>
              </a:defRPr>
            </a:pPr>
            <a:r>
              <a:t>Canonical aliases</a:t>
            </a:r>
          </a:p>
          <a:p>
            <a:pPr>
              <a:spcAft>
                <a:spcPts val="1400"/>
              </a:spcAft>
              <a:defRPr sz="1800" b="0">
                <a:solidFill>
                  <a:srgbClr val="172C31"/>
                </a:solidFill>
                <a:latin typeface="Arial"/>
              </a:defRPr>
            </a:pPr>
            <a:r>
              <a:t>Two event clocks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743200"/>
            <a:ext cx="2514600" cy="1965960"/>
          </a:xfrm>
          <a:prstGeom prst="round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14884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95B4D"/>
                </a:solidFill>
                <a:latin typeface="Arial"/>
              </a:defRPr>
            </a:pPr>
            <a:r>
              <a:t>Durable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57600"/>
            <a:ext cx="21488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172C31"/>
                </a:solidFill>
                <a:latin typeface="Arial"/>
              </a:defRPr>
            </a:pPr>
            <a:r>
              <a:t>Atomic enqueue</a:t>
            </a:r>
          </a:p>
          <a:p>
            <a:pPr>
              <a:spcAft>
                <a:spcPts val="1400"/>
              </a:spcAft>
              <a:defRPr sz="1800" b="0">
                <a:solidFill>
                  <a:srgbClr val="172C31"/>
                </a:solidFill>
                <a:latin typeface="Arial"/>
              </a:defRPr>
            </a:pPr>
            <a:r>
              <a:t>Leases +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743200"/>
            <a:ext cx="2514600" cy="1965960"/>
          </a:xfrm>
          <a:prstGeom prst="round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214884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95B4D"/>
                </a:solidFill>
                <a:latin typeface="Arial"/>
              </a:defRPr>
            </a:pPr>
            <a:r>
              <a:t>Stored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57600"/>
            <a:ext cx="21488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172C31"/>
                </a:solidFill>
                <a:latin typeface="Arial"/>
              </a:defRPr>
            </a:pPr>
            <a:r>
              <a:t>Tenant model</a:t>
            </a:r>
          </a:p>
          <a:p>
            <a:pPr>
              <a:spcAft>
                <a:spcPts val="1400"/>
              </a:spcAft>
              <a:defRPr sz="1800" b="0">
                <a:solidFill>
                  <a:srgbClr val="172C31"/>
                </a:solidFill>
                <a:latin typeface="Arial"/>
              </a:defRPr>
            </a:pPr>
            <a:r>
              <a:t>Versioned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743200"/>
            <a:ext cx="2514600" cy="1965960"/>
          </a:xfrm>
          <a:prstGeom prst="round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2971800"/>
            <a:ext cx="214884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95B4D"/>
                </a:solidFill>
                <a:latin typeface="Arial"/>
              </a:defRPr>
            </a:pPr>
            <a:r>
              <a:t>CSM worklist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3657600"/>
            <a:ext cx="21488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172C31"/>
                </a:solidFill>
                <a:latin typeface="Arial"/>
              </a:defRPr>
            </a:pPr>
            <a:r>
              <a:t>Review evidence</a:t>
            </a:r>
          </a:p>
          <a:p>
            <a:pPr>
              <a:spcAft>
                <a:spcPts val="1400"/>
              </a:spcAft>
              <a:defRPr sz="1800" b="0">
                <a:solidFill>
                  <a:srgbClr val="172C31"/>
                </a:solidFill>
                <a:latin typeface="Arial"/>
              </a:defRPr>
            </a:pPr>
            <a:r>
              <a:t>Prepare, never send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03520"/>
            <a:ext cx="10972800" cy="685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095B4D"/>
                </a:solidFill>
                <a:latin typeface="Arial"/>
              </a:defRPr>
            </a:pPr>
            <a:r>
              <a:t>Incoming events trigger processing. Daily reconciliation is only a safety 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109728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172C31"/>
                </a:solidFill>
                <a:latin typeface="Arial"/>
              </a:defRPr>
            </a:pPr>
            <a:r>
              <a:t>Trust is a data contract.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109728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53666A"/>
                </a:solidFill>
                <a:latin typeface="Arial"/>
              </a:defRPr>
            </a:pPr>
            <a:r>
              <a:t>Deterministic definitions and enforced boundaries come before generated prose.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66A"/>
                </a:solidFill>
                <a:latin typeface="Arial"/>
              </a:defRPr>
            </a:pPr>
            <a:r>
              <a:t>FELLO TAKE-HOME  /  Siddhant Sharma  /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51760"/>
            <a:ext cx="5212080" cy="3200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Tenant + CSM boundaries</a:t>
            </a: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Postgres RLS with a non-owner role; account ownership checked in the application.</a:t>
            </a: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Historical correctness</a:t>
            </a: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Event time AND receipt time must precede the scoring cutoff.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651760"/>
            <a:ext cx="5212080" cy="3200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Inspectable state</a:t>
            </a: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Stored inputs, event IDs, model version, feature version and contribution terms.</a:t>
            </a: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Bounded AI</a:t>
            </a: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OpenRouter selects allowlisted facts. Code renders factual sentences. No email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109728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172C31"/>
                </a:solidFill>
                <a:latin typeface="Arial"/>
              </a:defRPr>
            </a:pPr>
            <a:r>
              <a:t>Measure the failure, not just the demo.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109728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53666A"/>
                </a:solidFill>
                <a:latin typeface="Arial"/>
              </a:defRPr>
            </a:pPr>
            <a:r>
              <a:t>2024 train → 2025 calibration → 2026 held-out replay. Synthetic results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66A"/>
                </a:solidFill>
                <a:latin typeface="Arial"/>
              </a:defRPr>
            </a:pPr>
            <a:r>
              <a:t>FELLO TAKE-HOME  /  Siddhant Sharma  /  04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2743200"/>
          <a:ext cx="60350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40880" y="2651760"/>
            <a:ext cx="4389120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No consistent advantage over rules.</a:t>
            </a: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High recall at capacity 10 is near saturation—not proof of skill.</a:t>
            </a: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200" b="0">
                <a:solidFill>
                  <a:srgbClr val="172C31"/>
                </a:solidFill>
                <a:latin typeface="Arial"/>
              </a:defRPr>
            </a:pPr>
            <a:r>
              <a:t>Sparse coverage suppresses displayed probabilities. Small tenant uses explicit rules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109728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 narrow system I can explain.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109728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CD6CB"/>
                </a:solidFill>
                <a:latin typeface="Arial"/>
              </a:defRPr>
            </a:pPr>
            <a:r>
              <a:t>Submission draft — release gates remain explicit.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CD6CB"/>
                </a:solidFill>
                <a:latin typeface="Arial"/>
              </a:defRPr>
            </a:pPr>
            <a:r>
              <a:t>FELLO TAKE-HOME  /  Siddhant Sharma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43200"/>
            <a:ext cx="5303520" cy="2926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Implemented and exercised</a:t>
            </a:r>
          </a:p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Reproducible data + fitted models</a:t>
            </a:r>
          </a:p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Tenant-safe event processing</a:t>
            </a:r>
          </a:p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Authenticated worklist + evidence</a:t>
            </a:r>
          </a:p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Constrained drafting + labelled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5120640" cy="2926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Before submission</a:t>
            </a:r>
          </a:p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Private repository access</a:t>
            </a:r>
          </a:p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Oracle HTTPS deployment</a:t>
            </a:r>
          </a:p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Live OpenRouter verification</a:t>
            </a:r>
          </a:p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Owner review and recorded Loom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